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5" r:id="rId17"/>
    <p:sldId id="273" r:id="rId18"/>
    <p:sldId id="276" r:id="rId19"/>
    <p:sldId id="277" r:id="rId20"/>
    <p:sldId id="279" r:id="rId21"/>
    <p:sldId id="280" r:id="rId2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50C40-595C-6764-2813-C972861BE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A7094A-A82F-F737-F8F1-0B1CC93E2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5E2F38-5984-43C7-9CB3-2C94DEEC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158B1E-E98B-17BE-2221-ABE2827C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BC356E-9970-7487-D086-93E67133A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217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FD3B8-1646-857A-C0EC-414C70AF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D4B38-7543-BB50-ADC3-6E0C6D01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B5BB26-7C1F-8DA4-DFAD-6589165F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7E882-8D49-EA18-AA50-78B9A752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6E1540-E0C0-A551-F993-30707392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188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72A8E-A2E6-54FE-542B-8F2131666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2D1557-20ED-A002-EA63-3A0799960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BFD177-AA1B-AEE5-ED38-3F34EBF0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F2BB0F-2088-8094-4442-F3B4108C0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8D7117-D347-565F-F410-9CAACEB2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92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94BA8-8462-F1E4-F4AF-1F74E9814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E18B44-C855-82AA-5555-D0B06812B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BB0E9F-6E29-7701-7C84-855C74E06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94420C-73B8-DFBA-3158-BB123752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5EB8D8-D0F7-BD6D-D5A3-CA3D4DC2A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50B04C-94F5-141F-5DDE-19BA8704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788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CFD23-6C1C-C279-A4C5-F6178914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6CBAD6-F997-F708-B810-6FE306C76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01BC51-F583-D091-2CAD-9411384DD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2C0A1E-FE67-517A-8820-533630A5A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9DAF8E-BF7D-B273-FBB2-37F418A61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8F7DC56-6D62-2B97-B8C7-8AB3C0214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5F809AF-AA53-1866-4813-AE49B5242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F0F06B-7097-4713-DA40-3AFBD62B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4713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D2C62-976F-5EF5-0128-8498CA711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3C13BF-1809-FECF-46C7-A951D07E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D06154-DEDA-8B82-518A-6EEB0291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4CFA17-138D-8D02-982A-8C20CF16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6863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088793-4112-AA67-7160-09A872EC9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93A8BF-0D73-A7F3-496F-A25C5E46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4CFC03-A925-6C2D-A9B7-ACBED4BA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2018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D7B90-9A41-4AB3-791E-7D68E0232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D3AFC0-F2A4-4790-3B79-22804AC34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6FB941-F9FC-4307-A9F3-DB6E18D76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68C7CB-6999-F1C1-40C5-0ECBC1EE6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16B166-1845-0C0B-3B20-A988C6CEB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C5EA1C-BA1A-71A8-0839-153E8D45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67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FD2E1-7992-A963-84BA-40E25CC8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15DD993-B15E-D581-A071-B03039FA6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DEA183-9929-8BF3-9E80-FE6DA9877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526EEF-9670-5150-20B2-D984CA2F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9D0836-2255-01F5-770B-A47DA493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588465-A1EC-95ED-E07B-2C2CCB69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279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1C9F0-0067-F4FC-1B62-5F6B0027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488B19-9CB2-ED9D-FBDF-AC0F161DA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50D9D2-F6B4-CBDF-6C0E-E1D6C5D7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EEB931-0BC7-0F05-7B01-41D3DCDE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50D95C-D313-56D5-1F1A-496EE335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3011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4477FF-6BB0-AF8A-B14C-99DA9AD9B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54C443-3797-47DD-A1BB-CA26D9F87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2AB1AC-22A9-235C-F5F8-FC26CB68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24086A-EA60-9240-44F5-EDC29C679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DD32BF-2B04-016D-091F-6EA354CD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351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CE5B971-103E-F64F-8723-5D96691C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73B251-C756-5F59-2947-09A254867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83EB56-2547-1BB6-E0EE-EF4009A2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A0E21-D9ED-4528-9723-404889A3FE0E}" type="datetimeFigureOut">
              <a:rPr lang="es-PE" smtClean="0"/>
              <a:t>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B70BC5-1F80-8CDA-FAB4-FAFE3A7D4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CC9B60-ADC9-0AC9-D7B4-DF8528C6C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E9758-6F49-432E-AE8B-F6A9A4E706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117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6306-B85F-07BE-44DB-C2F83664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53B2694-171F-CF42-600D-4C2052FE6CF8}"/>
              </a:ext>
            </a:extLst>
          </p:cNvPr>
          <p:cNvSpPr txBox="1"/>
          <p:nvPr/>
        </p:nvSpPr>
        <p:spPr>
          <a:xfrm>
            <a:off x="1671484" y="1969641"/>
            <a:ext cx="88490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MX" sz="5400" b="1" i="0" dirty="0">
                <a:solidFill>
                  <a:srgbClr val="002060"/>
                </a:solidFill>
                <a:effectLst/>
              </a:rPr>
              <a:t>¿Qué tienda debería vender </a:t>
            </a:r>
            <a:r>
              <a:rPr lang="es-MX" sz="5400" b="1" dirty="0">
                <a:solidFill>
                  <a:srgbClr val="002060"/>
                </a:solidFill>
              </a:rPr>
              <a:t>el Sr. João</a:t>
            </a:r>
            <a:r>
              <a:rPr lang="es-MX" sz="5400" b="1" i="0" dirty="0">
                <a:solidFill>
                  <a:srgbClr val="002060"/>
                </a:solidFill>
                <a:effectLst/>
              </a:rPr>
              <a:t>?</a:t>
            </a:r>
            <a:endParaRPr lang="es-MX" sz="5400" dirty="0">
              <a:solidFill>
                <a:srgbClr val="002060"/>
              </a:solidFill>
              <a:effectLst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1531323-80F6-F465-16CF-B094903ABCEC}"/>
              </a:ext>
            </a:extLst>
          </p:cNvPr>
          <p:cNvSpPr txBox="1"/>
          <p:nvPr/>
        </p:nvSpPr>
        <p:spPr>
          <a:xfrm>
            <a:off x="2606678" y="3723967"/>
            <a:ext cx="7721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solidFill>
                  <a:srgbClr val="002060"/>
                </a:solidFill>
              </a:rPr>
              <a:t>Análisis de rendimiento y ventas con Python y visualización de Datos</a:t>
            </a:r>
            <a:endParaRPr lang="es-PE" sz="2000" dirty="0">
              <a:solidFill>
                <a:srgbClr val="00206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C7B4829-2305-BF94-0040-94F2DDE0C8A2}"/>
              </a:ext>
            </a:extLst>
          </p:cNvPr>
          <p:cNvSpPr txBox="1"/>
          <p:nvPr/>
        </p:nvSpPr>
        <p:spPr>
          <a:xfrm>
            <a:off x="3439278" y="5960806"/>
            <a:ext cx="6056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Edderson Pomacanchari Ramos - 09/11/2025 – </a:t>
            </a:r>
            <a:r>
              <a:rPr lang="es-MX" sz="1400" dirty="0" err="1">
                <a:solidFill>
                  <a:srgbClr val="002060"/>
                </a:solidFill>
              </a:rPr>
              <a:t>Challenge</a:t>
            </a:r>
            <a:r>
              <a:rPr lang="es-MX" sz="1400" dirty="0">
                <a:solidFill>
                  <a:srgbClr val="002060"/>
                </a:solidFill>
              </a:rPr>
              <a:t> Alura Store </a:t>
            </a:r>
            <a:r>
              <a:rPr lang="es-MX" sz="1400" dirty="0" err="1">
                <a:solidFill>
                  <a:srgbClr val="002060"/>
                </a:solidFill>
              </a:rPr>
              <a:t>Latam</a:t>
            </a:r>
            <a:endParaRPr lang="es-PE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29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79E0356-85AD-2E6D-ABFD-E7EDBD48A0FE}"/>
              </a:ext>
            </a:extLst>
          </p:cNvPr>
          <p:cNvSpPr txBox="1"/>
          <p:nvPr/>
        </p:nvSpPr>
        <p:spPr>
          <a:xfrm>
            <a:off x="1204452" y="608355"/>
            <a:ext cx="9783096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300" b="1" dirty="0">
                <a:solidFill>
                  <a:srgbClr val="002060"/>
                </a:solidFill>
              </a:rPr>
              <a:t>Alura Store</a:t>
            </a:r>
            <a:r>
              <a:rPr lang="es-MX" sz="2300" dirty="0">
                <a:solidFill>
                  <a:srgbClr val="002060"/>
                </a:solidFill>
              </a:rPr>
              <a:t> </a:t>
            </a:r>
            <a:r>
              <a:rPr lang="es-MX" sz="2300" dirty="0"/>
              <a:t>es una cadena de 4 tiendas en Latinoamérica.</a:t>
            </a:r>
            <a:br>
              <a:rPr lang="es-MX" sz="2300" dirty="0"/>
            </a:br>
            <a:r>
              <a:rPr lang="es-MX" sz="2300" dirty="0"/>
              <a:t>El Sr. João, propietario de la cadena, necesita </a:t>
            </a:r>
            <a:r>
              <a:rPr lang="es-MX" sz="2300" b="1" dirty="0">
                <a:solidFill>
                  <a:srgbClr val="002060"/>
                </a:solidFill>
              </a:rPr>
              <a:t>identificar la tienda menos eficiente</a:t>
            </a:r>
            <a:r>
              <a:rPr lang="es-MX" sz="2300" dirty="0">
                <a:solidFill>
                  <a:srgbClr val="002060"/>
                </a:solidFill>
              </a:rPr>
              <a:t> </a:t>
            </a:r>
            <a:r>
              <a:rPr lang="es-MX" sz="2300" dirty="0"/>
              <a:t>con el objetivo de </a:t>
            </a:r>
            <a:r>
              <a:rPr lang="es-MX" sz="2300" b="1" dirty="0">
                <a:solidFill>
                  <a:srgbClr val="002060"/>
                </a:solidFill>
              </a:rPr>
              <a:t>venderla y financiar un nuevo emprendimiento</a:t>
            </a:r>
            <a:r>
              <a:rPr lang="es-MX" sz="2300" dirty="0">
                <a:solidFill>
                  <a:srgbClr val="002060"/>
                </a:solidFill>
              </a:rPr>
              <a:t>.</a:t>
            </a:r>
          </a:p>
          <a:p>
            <a:endParaRPr lang="es-MX" sz="2300" b="1" i="0" dirty="0">
              <a:solidFill>
                <a:srgbClr val="002060"/>
              </a:solidFill>
              <a:effectLst/>
              <a:latin typeface="YAFdJjbTu24_1"/>
            </a:endParaRPr>
          </a:p>
          <a:p>
            <a:r>
              <a:rPr lang="es-MX" sz="2300" dirty="0"/>
              <a:t>Por ello, ha planteado una pregunta clave:</a:t>
            </a:r>
            <a:br>
              <a:rPr lang="es-MX" sz="2300" dirty="0"/>
            </a:br>
            <a:r>
              <a:rPr lang="es-MX" sz="2300" dirty="0"/>
              <a:t>🏷️ </a:t>
            </a:r>
            <a:r>
              <a:rPr lang="es-MX" sz="2300" b="1" dirty="0">
                <a:solidFill>
                  <a:srgbClr val="002060"/>
                </a:solidFill>
              </a:rPr>
              <a:t>¿Cuál de las tiendas es la menos eficiente y debería venderse?</a:t>
            </a:r>
            <a:endParaRPr lang="es-MX" sz="2300" b="1" dirty="0">
              <a:solidFill>
                <a:srgbClr val="002060"/>
              </a:solidFill>
              <a:effectLst/>
              <a:latin typeface="YAFdJjbTu24_1"/>
            </a:endParaRPr>
          </a:p>
        </p:txBody>
      </p:sp>
      <p:pic>
        <p:nvPicPr>
          <p:cNvPr id="7" name="Gráfico 6" descr="Preguntas con relleno sólido">
            <a:extLst>
              <a:ext uri="{FF2B5EF4-FFF2-40B4-BE49-F238E27FC236}">
                <a16:creationId xmlns:a16="http://schemas.microsoft.com/office/drawing/2014/main" id="{7E681C23-2F44-04F9-1ACE-41E45DFD2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5848" y="3679712"/>
            <a:ext cx="2180303" cy="218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38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C32E0-A831-A493-09BD-5D82D8DE3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B62D760-E514-5237-147B-E9A210AA4AC4}"/>
              </a:ext>
            </a:extLst>
          </p:cNvPr>
          <p:cNvSpPr txBox="1"/>
          <p:nvPr/>
        </p:nvSpPr>
        <p:spPr>
          <a:xfrm>
            <a:off x="685799" y="2551837"/>
            <a:ext cx="64819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MX" sz="5400" b="1" i="0" dirty="0">
                <a:solidFill>
                  <a:srgbClr val="002060"/>
                </a:solidFill>
                <a:effectLst/>
              </a:rPr>
              <a:t>Análisis </a:t>
            </a:r>
          </a:p>
          <a:p>
            <a:pPr algn="ctr" rtl="0"/>
            <a:r>
              <a:rPr lang="es-MX" sz="5400" b="1" i="0" dirty="0">
                <a:solidFill>
                  <a:srgbClr val="002060"/>
                </a:solidFill>
                <a:effectLst/>
              </a:rPr>
              <a:t>Preliminar</a:t>
            </a:r>
            <a:endParaRPr lang="es-MX" sz="5400" dirty="0">
              <a:solidFill>
                <a:srgbClr val="002060"/>
              </a:solidFill>
              <a:effectLst/>
            </a:endParaRPr>
          </a:p>
        </p:txBody>
      </p:sp>
      <p:pic>
        <p:nvPicPr>
          <p:cNvPr id="3" name="Gráfico 2" descr="Lupa con relleno sólido">
            <a:extLst>
              <a:ext uri="{FF2B5EF4-FFF2-40B4-BE49-F238E27FC236}">
                <a16:creationId xmlns:a16="http://schemas.microsoft.com/office/drawing/2014/main" id="{F6D3D2F4-0781-2B67-BF79-9EB84C4ED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013" y="718984"/>
            <a:ext cx="5420032" cy="5420032"/>
          </a:xfrm>
          <a:prstGeom prst="rect">
            <a:avLst/>
          </a:prstGeom>
        </p:spPr>
      </p:pic>
      <p:pic>
        <p:nvPicPr>
          <p:cNvPr id="6" name="Gráfico 5" descr="Gráfico de barras con tendencia alcista con relleno sólido">
            <a:extLst>
              <a:ext uri="{FF2B5EF4-FFF2-40B4-BE49-F238E27FC236}">
                <a16:creationId xmlns:a16="http://schemas.microsoft.com/office/drawing/2014/main" id="{07053F85-7A52-82AE-E86A-368DE52BB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7601" y="2327787"/>
            <a:ext cx="1280652" cy="128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3B2EA-D900-7563-C64D-848B442D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0FBAB56-B813-8329-D40F-B91977706816}"/>
              </a:ext>
            </a:extLst>
          </p:cNvPr>
          <p:cNvSpPr txBox="1"/>
          <p:nvPr/>
        </p:nvSpPr>
        <p:spPr>
          <a:xfrm>
            <a:off x="1204452" y="608355"/>
            <a:ext cx="9783096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300" dirty="0"/>
              <a:t>El análisis preliminar muestra diferencias claras en los ingresos totales entre las cuatro tiendas de Alura Store.</a:t>
            </a:r>
          </a:p>
          <a:p>
            <a:r>
              <a:rPr lang="es-MX" sz="2300" dirty="0"/>
              <a:t>A primera vista, </a:t>
            </a:r>
            <a:r>
              <a:rPr lang="es-MX" sz="2300" b="1" dirty="0"/>
              <a:t>la tienda T1 parece ser la más rentable</a:t>
            </a:r>
            <a:r>
              <a:rPr lang="es-MX" sz="2300" dirty="0"/>
              <a:t>, con el valor más alto de ingresos totales.</a:t>
            </a:r>
          </a:p>
          <a:p>
            <a:r>
              <a:rPr lang="es-MX" sz="2300" dirty="0"/>
              <a:t>💭 </a:t>
            </a:r>
            <a:r>
              <a:rPr lang="es-MX" sz="2300" b="1" dirty="0"/>
              <a:t>Pero surge una pregunta importante:</a:t>
            </a:r>
            <a:br>
              <a:rPr lang="es-MX" sz="2300" dirty="0"/>
            </a:br>
            <a:r>
              <a:rPr lang="es-MX" sz="2300" dirty="0"/>
              <a:t>¿Estos ingresos reflejan realmente un mejor desempeño, o podrían deberse a un </a:t>
            </a:r>
            <a:r>
              <a:rPr lang="es-MX" sz="2300" b="1" dirty="0"/>
              <a:t>falso positivo</a:t>
            </a:r>
            <a:r>
              <a:rPr lang="es-MX" sz="2300" dirty="0"/>
              <a:t>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1D947D-FFDD-6656-42A5-2BFBD0C2E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859" y="3429000"/>
            <a:ext cx="4462281" cy="307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96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D7F3-0739-2CB9-4F17-78410AE2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2048D44-A0E0-020D-4E26-CDF9C74D7861}"/>
              </a:ext>
            </a:extLst>
          </p:cNvPr>
          <p:cNvSpPr txBox="1"/>
          <p:nvPr/>
        </p:nvSpPr>
        <p:spPr>
          <a:xfrm>
            <a:off x="1204452" y="608355"/>
            <a:ext cx="97830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También, se observa que el </a:t>
            </a:r>
            <a:r>
              <a:rPr lang="es-MX" sz="2400" b="1" dirty="0"/>
              <a:t>volumen de ventas por categoría de producto</a:t>
            </a:r>
            <a:r>
              <a:rPr lang="es-MX" sz="2400" dirty="0"/>
              <a:t> es relativamente equilibrado entre las tiendas.</a:t>
            </a:r>
          </a:p>
          <a:p>
            <a:r>
              <a:rPr lang="es-MX" sz="2400" dirty="0"/>
              <a:t>Las </a:t>
            </a:r>
            <a:r>
              <a:rPr lang="es-MX" sz="2400" b="1" dirty="0"/>
              <a:t>tres categorías más vendidas (Top 3)</a:t>
            </a:r>
            <a:r>
              <a:rPr lang="es-MX" sz="2400" dirty="0"/>
              <a:t> presentan un comportamiento bastante similar en todas las sucursales, </a:t>
            </a:r>
            <a:r>
              <a:rPr lang="es-MX" sz="2400" b="1" dirty="0"/>
              <a:t>sin diferencias significativas</a:t>
            </a:r>
            <a:r>
              <a:rPr lang="es-MX" sz="2400" dirty="0"/>
              <a:t> que indiquen una especialización o ventaja competitiva clara.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6394C3-D58F-19D4-8AEE-4A8C70EC7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413" y="2924109"/>
            <a:ext cx="8129032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4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4F5B-959D-D6EE-CC52-2955361D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C971F38-79E8-4327-5474-CF6757C018B7}"/>
              </a:ext>
            </a:extLst>
          </p:cNvPr>
          <p:cNvSpPr txBox="1"/>
          <p:nvPr/>
        </p:nvSpPr>
        <p:spPr>
          <a:xfrm>
            <a:off x="1204452" y="608355"/>
            <a:ext cx="97830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Por otro lado, aparece la </a:t>
            </a:r>
            <a:r>
              <a:rPr lang="es-MX" sz="2400" b="1" dirty="0"/>
              <a:t>primera señal de alerta</a:t>
            </a:r>
            <a:r>
              <a:rPr lang="es-MX" sz="2400" dirty="0"/>
              <a:t> en el análisis.</a:t>
            </a:r>
          </a:p>
          <a:p>
            <a:r>
              <a:rPr lang="es-MX" sz="2400" dirty="0"/>
              <a:t>Aunque la </a:t>
            </a:r>
            <a:r>
              <a:rPr lang="es-MX" sz="2400" b="1" dirty="0"/>
              <a:t>tienda T1 lidera en ingresos totales</a:t>
            </a:r>
            <a:r>
              <a:rPr lang="es-MX" sz="2400" dirty="0"/>
              <a:t>, presenta la </a:t>
            </a:r>
            <a:r>
              <a:rPr lang="es-MX" sz="2400" b="1" dirty="0"/>
              <a:t>calificación promedio más baja (3.98)</a:t>
            </a:r>
            <a:r>
              <a:rPr lang="es-MX" sz="2400" dirty="0"/>
              <a:t> entre todas las sucursales.</a:t>
            </a:r>
          </a:p>
          <a:p>
            <a:endParaRPr lang="es-MX" sz="2400" dirty="0"/>
          </a:p>
          <a:p>
            <a:r>
              <a:rPr lang="es-MX" sz="2400" dirty="0"/>
              <a:t>Este resultado sugiere que </a:t>
            </a:r>
            <a:r>
              <a:rPr lang="es-MX" sz="2400" b="1" dirty="0"/>
              <a:t>los altos ingresos no necesariamente reflejan una mayor satisfacción del cliente</a:t>
            </a:r>
            <a:r>
              <a:rPr lang="es-MX" sz="2400" dirty="0"/>
              <a:t>, lo que podría impactar su sostenibilidad a largo plazo.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593023-2B20-26C0-3D59-3273D27FE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460" y="3604503"/>
            <a:ext cx="4005080" cy="283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21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F208-5C36-8FE0-07F3-0EBEA7DF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2C0AC2F-4C1A-C687-89FA-7999179B0B17}"/>
              </a:ext>
            </a:extLst>
          </p:cNvPr>
          <p:cNvSpPr txBox="1"/>
          <p:nvPr/>
        </p:nvSpPr>
        <p:spPr>
          <a:xfrm>
            <a:off x="1204452" y="608355"/>
            <a:ext cx="97830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De igual manera, surge la </a:t>
            </a:r>
            <a:r>
              <a:rPr lang="es-MX" sz="2400" b="1" dirty="0"/>
              <a:t>segunda señal de alerta</a:t>
            </a:r>
            <a:r>
              <a:rPr lang="es-MX" sz="2400" dirty="0"/>
              <a:t>.</a:t>
            </a:r>
          </a:p>
          <a:p>
            <a:r>
              <a:rPr lang="es-MX" sz="2400" dirty="0"/>
              <a:t>La </a:t>
            </a:r>
            <a:r>
              <a:rPr lang="es-MX" sz="2400" b="1" dirty="0"/>
              <a:t>tienda T1</a:t>
            </a:r>
            <a:r>
              <a:rPr lang="es-MX" sz="2400" dirty="0"/>
              <a:t> presenta el </a:t>
            </a:r>
            <a:r>
              <a:rPr lang="es-MX" sz="2400" b="1" dirty="0"/>
              <a:t>costo promedio de envío más alto</a:t>
            </a:r>
            <a:r>
              <a:rPr lang="es-MX" sz="2400" dirty="0"/>
              <a:t> entre todas las sucursales de la cadena, lo que podría indicar </a:t>
            </a:r>
            <a:r>
              <a:rPr lang="es-MX" sz="2400" b="1" dirty="0"/>
              <a:t>ineficiencias en su gestión logística</a:t>
            </a:r>
            <a:r>
              <a:rPr lang="es-MX" sz="2400" dirty="0"/>
              <a:t>.</a:t>
            </a:r>
          </a:p>
          <a:p>
            <a:r>
              <a:rPr lang="es-MX" sz="2400" dirty="0"/>
              <a:t>Este hallazgo refuerza la hipótesis de que el buen desempeño en ingresos </a:t>
            </a:r>
            <a:r>
              <a:rPr lang="es-MX" sz="2400" b="1" dirty="0"/>
              <a:t>no necesariamente se traduce en una operación eficiente o rentable.</a:t>
            </a:r>
            <a:endParaRPr lang="es-MX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8DA5ED-4777-6BCC-D459-245A38D91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2568" y="3307966"/>
            <a:ext cx="3916001" cy="313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3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2636A-1473-D85F-983D-1C041715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A419563-BE39-CEAB-51BC-7A69EE3A5792}"/>
              </a:ext>
            </a:extLst>
          </p:cNvPr>
          <p:cNvSpPr txBox="1"/>
          <p:nvPr/>
        </p:nvSpPr>
        <p:spPr>
          <a:xfrm>
            <a:off x="1204452" y="608355"/>
            <a:ext cx="97830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Dado que los costos elevados podrían estar vinculados a la </a:t>
            </a:r>
            <a:r>
              <a:rPr lang="es-MX" sz="2400" b="1" dirty="0"/>
              <a:t>gestión logística</a:t>
            </a:r>
            <a:r>
              <a:rPr lang="es-MX" sz="2400" dirty="0"/>
              <a:t>, se analizó la </a:t>
            </a:r>
            <a:r>
              <a:rPr lang="es-MX" sz="2400" b="1" dirty="0"/>
              <a:t>distribución geográfica de las ventas e ingresos</a:t>
            </a:r>
            <a:r>
              <a:rPr lang="es-MX" sz="2400" dirty="0"/>
              <a:t>.</a:t>
            </a:r>
          </a:p>
          <a:p>
            <a:r>
              <a:rPr lang="es-MX" sz="2400" dirty="0"/>
              <a:t>No se identificaron </a:t>
            </a:r>
            <a:r>
              <a:rPr lang="es-MX" sz="2400" b="1" dirty="0"/>
              <a:t>puntos anómalos</a:t>
            </a:r>
            <a:r>
              <a:rPr lang="es-MX" sz="2400" dirty="0"/>
              <a:t>, solo una </a:t>
            </a:r>
            <a:r>
              <a:rPr lang="es-MX" sz="2400" b="1" dirty="0"/>
              <a:t>alta concentración de operaciones</a:t>
            </a:r>
            <a:r>
              <a:rPr lang="es-MX" sz="2400" dirty="0"/>
              <a:t> entre las coordenadas </a:t>
            </a:r>
            <a:r>
              <a:rPr lang="es-MX" sz="2400" b="1" dirty="0"/>
              <a:t>-73 a -76 (longitud)</a:t>
            </a:r>
            <a:r>
              <a:rPr lang="es-MX" sz="2400" dirty="0"/>
              <a:t> y </a:t>
            </a:r>
            <a:r>
              <a:rPr lang="es-MX" sz="2400" b="1" dirty="0"/>
              <a:t>3 a 8 (latitud)</a:t>
            </a:r>
            <a:r>
              <a:rPr lang="es-MX" sz="2400" dirty="0"/>
              <a:t>.</a:t>
            </a:r>
          </a:p>
          <a:p>
            <a:r>
              <a:rPr lang="es-MX" sz="2400" dirty="0"/>
              <a:t>Esto sugiere una </a:t>
            </a:r>
            <a:r>
              <a:rPr lang="es-MX" sz="2400" b="1" dirty="0"/>
              <a:t>zona operativa definida</a:t>
            </a:r>
            <a:r>
              <a:rPr lang="es-MX" sz="2400" dirty="0"/>
              <a:t>, lo que motiva a </a:t>
            </a:r>
            <a:r>
              <a:rPr lang="es-MX" sz="2400" b="1" dirty="0"/>
              <a:t>profundizar el análisis geográfico</a:t>
            </a:r>
            <a:r>
              <a:rPr lang="es-MX" sz="2400" dirty="0"/>
              <a:t> para evaluar su relación con la eficiencia de las tiendas.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DF9ABC-E43F-D975-4A2F-8DF58C9DD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1344" y="3522778"/>
            <a:ext cx="5069312" cy="286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64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260E-11B3-3750-9367-0C8E02568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82FB2E1-416C-3B9B-0AD8-543AC7405446}"/>
              </a:ext>
            </a:extLst>
          </p:cNvPr>
          <p:cNvSpPr txBox="1"/>
          <p:nvPr/>
        </p:nvSpPr>
        <p:spPr>
          <a:xfrm>
            <a:off x="2285996" y="1177583"/>
            <a:ext cx="76200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PE" sz="5400" b="1" dirty="0">
                <a:solidFill>
                  <a:srgbClr val="002060"/>
                </a:solidFill>
              </a:rPr>
              <a:t>Exploración geográfica en profundidad</a:t>
            </a:r>
            <a:endParaRPr lang="es-MX" sz="5400" b="1" dirty="0">
              <a:solidFill>
                <a:srgbClr val="002060"/>
              </a:solidFill>
              <a:effectLst/>
            </a:endParaRPr>
          </a:p>
        </p:txBody>
      </p:sp>
      <p:pic>
        <p:nvPicPr>
          <p:cNvPr id="4" name="Gráfico 3" descr="Mapa con marcador con relleno sólido">
            <a:extLst>
              <a:ext uri="{FF2B5EF4-FFF2-40B4-BE49-F238E27FC236}">
                <a16:creationId xmlns:a16="http://schemas.microsoft.com/office/drawing/2014/main" id="{30B0423F-879A-D2D6-EE51-9D92CDA53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5681" y="2931909"/>
            <a:ext cx="2600633" cy="260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1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0A7EF-3ED1-FD45-6B93-DC5D65B5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3AF3179-2A68-03F1-77ED-718DA7D2245C}"/>
              </a:ext>
            </a:extLst>
          </p:cNvPr>
          <p:cNvSpPr txBox="1"/>
          <p:nvPr/>
        </p:nvSpPr>
        <p:spPr>
          <a:xfrm>
            <a:off x="1469923" y="834497"/>
            <a:ext cx="9783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El </a:t>
            </a:r>
            <a:r>
              <a:rPr lang="es-MX" sz="2400" b="1" dirty="0"/>
              <a:t>20 % de los ingresos de la tienda T1</a:t>
            </a:r>
            <a:r>
              <a:rPr lang="es-MX" sz="2400" dirty="0"/>
              <a:t> provienen de zonas </a:t>
            </a:r>
            <a:r>
              <a:rPr lang="es-MX" sz="2400" b="1" dirty="0"/>
              <a:t>“Fuera de clúster”</a:t>
            </a:r>
            <a:r>
              <a:rPr lang="es-MX" sz="2400" dirty="0"/>
              <a:t>, reflejando una </a:t>
            </a:r>
            <a:r>
              <a:rPr lang="es-MX" sz="2400" b="1" dirty="0"/>
              <a:t>alta dispersión geográfica</a:t>
            </a:r>
            <a:r>
              <a:rPr lang="es-MX" sz="2400" dirty="0"/>
              <a:t> que eleva sus </a:t>
            </a:r>
            <a:r>
              <a:rPr lang="es-MX" sz="2400" b="1" dirty="0"/>
              <a:t>costos logísticos</a:t>
            </a:r>
            <a:r>
              <a:rPr lang="es-MX" sz="2400" dirty="0"/>
              <a:t> y afecta su eficiencia.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D8006A-AE7A-5266-0294-2970F8E27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6323" y="2401592"/>
            <a:ext cx="7012201" cy="369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95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FE79B-C43D-CCD5-48D9-93EB56898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1351063-07F2-2F04-921F-69BBF85B663B}"/>
              </a:ext>
            </a:extLst>
          </p:cNvPr>
          <p:cNvSpPr txBox="1"/>
          <p:nvPr/>
        </p:nvSpPr>
        <p:spPr>
          <a:xfrm>
            <a:off x="1204452" y="706676"/>
            <a:ext cx="97830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En el segmento </a:t>
            </a:r>
            <a:r>
              <a:rPr lang="es-MX" sz="2400" b="1" dirty="0"/>
              <a:t>“Fuera de clúster”</a:t>
            </a:r>
            <a:r>
              <a:rPr lang="es-MX" sz="2400" dirty="0"/>
              <a:t>, la </a:t>
            </a:r>
            <a:r>
              <a:rPr lang="es-MX" sz="2400" b="1" dirty="0"/>
              <a:t>tienda T1</a:t>
            </a:r>
            <a:r>
              <a:rPr lang="es-MX" sz="2400" dirty="0"/>
              <a:t> genera el </a:t>
            </a:r>
            <a:r>
              <a:rPr lang="es-MX" sz="2400" b="1" dirty="0"/>
              <a:t>20 % de sus ingresos (232.099 millones)</a:t>
            </a:r>
            <a:r>
              <a:rPr lang="es-MX" sz="2400" dirty="0"/>
              <a:t>, frente al </a:t>
            </a:r>
            <a:r>
              <a:rPr lang="es-MX" sz="2400" b="1" dirty="0"/>
              <a:t>15 % de T3</a:t>
            </a:r>
            <a:r>
              <a:rPr lang="es-MX" sz="2400" dirty="0"/>
              <a:t>.</a:t>
            </a:r>
            <a:br>
              <a:rPr lang="es-MX" sz="2400" dirty="0"/>
            </a:br>
            <a:r>
              <a:rPr lang="es-MX" sz="2400" dirty="0"/>
              <a:t>Esta dispersión podría explicar sus </a:t>
            </a:r>
            <a:r>
              <a:rPr lang="es-MX" sz="2400" b="1" dirty="0"/>
              <a:t>mayores costos logísticos</a:t>
            </a:r>
            <a:r>
              <a:rPr lang="es-MX" sz="2400" dirty="0"/>
              <a:t>, por lo que se analizará el </a:t>
            </a:r>
            <a:r>
              <a:rPr lang="es-MX" sz="2400" b="1" dirty="0"/>
              <a:t>costo promedio de envío</a:t>
            </a:r>
            <a:r>
              <a:rPr lang="es-MX" sz="2400" dirty="0"/>
              <a:t> en esta zona.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E60DEC-2D41-2D45-157A-0AB381CFC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2875" y="3070906"/>
            <a:ext cx="4571024" cy="314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1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D631B-2C49-1222-D80C-6A1E252D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C1EEB85-82FE-4FD0-EC56-B2ABC93BFE6E}"/>
              </a:ext>
            </a:extLst>
          </p:cNvPr>
          <p:cNvSpPr txBox="1"/>
          <p:nvPr/>
        </p:nvSpPr>
        <p:spPr>
          <a:xfrm>
            <a:off x="1204452" y="903323"/>
            <a:ext cx="97830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En el segmento </a:t>
            </a:r>
            <a:r>
              <a:rPr lang="es-MX" sz="2400" b="1" dirty="0"/>
              <a:t>“Fuera de clúster”</a:t>
            </a:r>
            <a:r>
              <a:rPr lang="es-MX" sz="2400" dirty="0"/>
              <a:t>, la </a:t>
            </a:r>
            <a:r>
              <a:rPr lang="es-MX" sz="2400" b="1" dirty="0"/>
              <a:t>tienda T1</a:t>
            </a:r>
            <a:r>
              <a:rPr lang="es-MX" sz="2400" dirty="0"/>
              <a:t> registra un </a:t>
            </a:r>
            <a:r>
              <a:rPr lang="es-MX" sz="2400" b="1" dirty="0"/>
              <a:t>costo promedio de envío de 30 mil</a:t>
            </a:r>
            <a:r>
              <a:rPr lang="es-MX" sz="2400" dirty="0"/>
              <a:t>, frente a </a:t>
            </a:r>
            <a:r>
              <a:rPr lang="es-MX" sz="2400" b="1" dirty="0"/>
              <a:t>24 mil en T3</a:t>
            </a:r>
            <a:r>
              <a:rPr lang="es-MX" sz="2400" dirty="0"/>
              <a:t> — una </a:t>
            </a:r>
            <a:r>
              <a:rPr lang="es-MX" sz="2400" b="1" dirty="0"/>
              <a:t>brecha de 6 mil</a:t>
            </a:r>
            <a:r>
              <a:rPr lang="es-MX" sz="2400" dirty="0"/>
              <a:t> que evidencia el impacto de su </a:t>
            </a:r>
            <a:r>
              <a:rPr lang="es-MX" sz="2400" b="1" dirty="0"/>
              <a:t>dispersión geográfica</a:t>
            </a:r>
            <a:r>
              <a:rPr lang="es-MX" sz="2400" dirty="0"/>
              <a:t> en los costos logísticos.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CA01C3-EAEE-287D-72B3-9E6C5C96A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9649" y="2910228"/>
            <a:ext cx="4312701" cy="341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75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9F47-6E2F-311D-8388-67CE967A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9AFA9E8-DE6A-0E55-7E7C-6BD140E26977}"/>
              </a:ext>
            </a:extLst>
          </p:cNvPr>
          <p:cNvSpPr txBox="1"/>
          <p:nvPr/>
        </p:nvSpPr>
        <p:spPr>
          <a:xfrm>
            <a:off x="1204451" y="824665"/>
            <a:ext cx="9783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Aunque la </a:t>
            </a:r>
            <a:r>
              <a:rPr lang="es-MX" sz="2400" b="1" dirty="0"/>
              <a:t>tienda T1</a:t>
            </a:r>
            <a:r>
              <a:rPr lang="es-MX" sz="2400" dirty="0"/>
              <a:t> incurre en </a:t>
            </a:r>
            <a:r>
              <a:rPr lang="es-MX" sz="2400" b="1" dirty="0"/>
              <a:t>mayores costos operativos</a:t>
            </a:r>
            <a:r>
              <a:rPr lang="es-MX" sz="2400" dirty="0"/>
              <a:t>, también concentra </a:t>
            </a:r>
            <a:r>
              <a:rPr lang="es-MX" sz="2400" b="1" dirty="0"/>
              <a:t>más transacciones (408 vs 366 en T3)</a:t>
            </a:r>
            <a:r>
              <a:rPr lang="es-MX" sz="2400" dirty="0"/>
              <a:t>, reflejando </a:t>
            </a:r>
            <a:r>
              <a:rPr lang="es-MX" sz="2400" b="1" dirty="0"/>
              <a:t>alta demanda fuera de su zona principal</a:t>
            </a:r>
            <a:r>
              <a:rPr lang="es-MX" sz="2400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DB3427-C1B1-AC72-AD93-2430ADE67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2477" y="2910247"/>
            <a:ext cx="4267045" cy="35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6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A8D11-1BD5-8FD8-E1A5-7B85E867B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68CCCEC-1AEF-5EDB-A300-91A55B2C6CDD}"/>
              </a:ext>
            </a:extLst>
          </p:cNvPr>
          <p:cNvSpPr txBox="1"/>
          <p:nvPr/>
        </p:nvSpPr>
        <p:spPr>
          <a:xfrm>
            <a:off x="1204451" y="647685"/>
            <a:ext cx="9783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La </a:t>
            </a:r>
            <a:r>
              <a:rPr lang="es-MX" sz="2400" b="1" dirty="0"/>
              <a:t>tienda T1</a:t>
            </a:r>
            <a:r>
              <a:rPr lang="es-MX" sz="2400" dirty="0"/>
              <a:t> combina el </a:t>
            </a:r>
            <a:r>
              <a:rPr lang="es-MX" sz="2400" b="1" dirty="0"/>
              <a:t>mayor ingreso (230 M)</a:t>
            </a:r>
            <a:r>
              <a:rPr lang="es-MX" sz="2400" dirty="0"/>
              <a:t> con el </a:t>
            </a:r>
            <a:r>
              <a:rPr lang="es-MX" sz="2400" b="1" dirty="0"/>
              <a:t>costo promedio más alto (30 mil)</a:t>
            </a:r>
            <a:r>
              <a:rPr lang="es-MX" sz="2400" dirty="0"/>
              <a:t>, ubicándola en una </a:t>
            </a:r>
            <a:r>
              <a:rPr lang="es-MX" sz="2400" b="1" dirty="0"/>
              <a:t>zona de alto riesgo operativo</a:t>
            </a:r>
            <a:r>
              <a:rPr lang="es-MX" sz="2400" dirty="0"/>
              <a:t> por su baja rentabilidad relativa.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5E01AB-A1B5-911B-E07A-A31E23B9B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9080" y="2320413"/>
            <a:ext cx="6593840" cy="373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2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BC9B3-24D1-522B-2AF5-EB6F755E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822748F-8EC0-B653-1012-887B417A397C}"/>
              </a:ext>
            </a:extLst>
          </p:cNvPr>
          <p:cNvSpPr txBox="1"/>
          <p:nvPr/>
        </p:nvSpPr>
        <p:spPr>
          <a:xfrm>
            <a:off x="1204452" y="1109802"/>
            <a:ext cx="9783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La </a:t>
            </a:r>
            <a:r>
              <a:rPr lang="es-MX" sz="2400" b="1" dirty="0"/>
              <a:t>correlación positiva</a:t>
            </a:r>
            <a:r>
              <a:rPr lang="es-MX" sz="2400" dirty="0"/>
              <a:t> entre </a:t>
            </a:r>
            <a:r>
              <a:rPr lang="es-MX" sz="2400" b="1" dirty="0"/>
              <a:t>costo promedio y transacciones</a:t>
            </a:r>
            <a:r>
              <a:rPr lang="es-MX" sz="2400" dirty="0"/>
              <a:t> confirma la </a:t>
            </a:r>
            <a:r>
              <a:rPr lang="es-MX" sz="2400" b="1" dirty="0"/>
              <a:t>ineficiencia logística de T1</a:t>
            </a:r>
            <a:r>
              <a:rPr lang="es-MX" sz="2400" dirty="0"/>
              <a:t>: más envíos (</a:t>
            </a:r>
            <a:r>
              <a:rPr lang="es-MX" sz="2400" b="1" dirty="0"/>
              <a:t>408</a:t>
            </a:r>
            <a:r>
              <a:rPr lang="es-MX" sz="2400" dirty="0"/>
              <a:t>) implican </a:t>
            </a:r>
            <a:r>
              <a:rPr lang="es-MX" sz="2400" b="1" dirty="0"/>
              <a:t>mayor costo promedio (30 mil)</a:t>
            </a:r>
            <a:r>
              <a:rPr lang="es-MX" sz="2400" dirty="0"/>
              <a:t>, frente a T3 (</a:t>
            </a:r>
            <a:r>
              <a:rPr lang="es-MX" sz="2400" b="1" dirty="0"/>
              <a:t>365 envíos</a:t>
            </a:r>
            <a:r>
              <a:rPr lang="es-MX" sz="2400" dirty="0"/>
              <a:t>, </a:t>
            </a:r>
            <a:r>
              <a:rPr lang="es-MX" sz="2400" b="1" dirty="0"/>
              <a:t>24 mil</a:t>
            </a:r>
            <a:r>
              <a:rPr lang="es-MX" sz="2400" dirty="0"/>
              <a:t>).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24AF39-899F-4C8B-ED59-BCAC0F3E7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0606" y="3057832"/>
            <a:ext cx="6007083" cy="317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53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E4E9-1D92-1408-4ACC-5CAA6DE0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D3780F6-D6FE-EC4E-BE49-3E0F75AE8A18}"/>
              </a:ext>
            </a:extLst>
          </p:cNvPr>
          <p:cNvSpPr txBox="1"/>
          <p:nvPr/>
        </p:nvSpPr>
        <p:spPr>
          <a:xfrm>
            <a:off x="1204452" y="557753"/>
            <a:ext cx="97830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En esta zona, la </a:t>
            </a:r>
            <a:r>
              <a:rPr lang="es-MX" sz="2400" b="1" dirty="0"/>
              <a:t>tienda T3</a:t>
            </a:r>
            <a:r>
              <a:rPr lang="es-MX" sz="2400" dirty="0"/>
              <a:t> se posiciona como la </a:t>
            </a:r>
            <a:r>
              <a:rPr lang="es-MX" sz="2400" b="1" dirty="0"/>
              <a:t>más eficiente</a:t>
            </a:r>
            <a:r>
              <a:rPr lang="es-MX" sz="2400" dirty="0"/>
              <a:t>, mientras que la </a:t>
            </a:r>
            <a:r>
              <a:rPr lang="es-MX" sz="2400" b="1" dirty="0"/>
              <a:t>tienda T1</a:t>
            </a:r>
            <a:r>
              <a:rPr lang="es-MX" sz="2400" dirty="0"/>
              <a:t> muestra un desempeño </a:t>
            </a:r>
            <a:r>
              <a:rPr lang="es-MX" sz="2400" b="1" dirty="0"/>
              <a:t>menos eficiente y de mayor riesgo operativo</a:t>
            </a:r>
            <a:r>
              <a:rPr lang="es-MX" sz="2400" dirty="0"/>
              <a:t>.</a:t>
            </a:r>
            <a:br>
              <a:rPr lang="es-MX" sz="2400" dirty="0"/>
            </a:br>
            <a:r>
              <a:rPr lang="es-MX" sz="2400" dirty="0"/>
              <a:t>La </a:t>
            </a:r>
            <a:r>
              <a:rPr lang="es-MX" sz="2400" b="1" dirty="0"/>
              <a:t>brecha en el costo promedio de envío</a:t>
            </a:r>
            <a:r>
              <a:rPr lang="es-MX" sz="2400" dirty="0"/>
              <a:t> entre ambas alcanza un </a:t>
            </a:r>
            <a:r>
              <a:rPr lang="es-MX" sz="2400" b="1" dirty="0"/>
              <a:t>25.3 %</a:t>
            </a:r>
            <a:r>
              <a:rPr lang="es-MX" sz="2400" dirty="0"/>
              <a:t>, tomando a </a:t>
            </a:r>
            <a:r>
              <a:rPr lang="es-MX" sz="2400" b="1" dirty="0"/>
              <a:t>T3 como punto de referencia (</a:t>
            </a:r>
            <a:r>
              <a:rPr lang="es-MX" sz="2400" b="1" dirty="0" err="1"/>
              <a:t>benchmark</a:t>
            </a:r>
            <a:r>
              <a:rPr lang="es-MX" sz="2400" b="1" dirty="0"/>
              <a:t>)</a:t>
            </a:r>
            <a:r>
              <a:rPr lang="es-MX" sz="2400" dirty="0"/>
              <a:t>.</a:t>
            </a:r>
            <a:br>
              <a:rPr lang="es-MX" sz="2400" dirty="0"/>
            </a:br>
            <a:r>
              <a:rPr lang="es-MX" sz="2400" dirty="0"/>
              <a:t>Este diferencial representa un </a:t>
            </a:r>
            <a:r>
              <a:rPr lang="es-MX" sz="2400" b="1" dirty="0"/>
              <a:t>sobrecosto operativo significativo</a:t>
            </a:r>
            <a:r>
              <a:rPr lang="es-MX" sz="2400" dirty="0"/>
              <a:t>, que podría traducirse en una </a:t>
            </a:r>
            <a:r>
              <a:rPr lang="es-MX" sz="2400" b="1" dirty="0"/>
              <a:t>pérdida de rentabilidad</a:t>
            </a:r>
            <a:r>
              <a:rPr lang="es-MX" sz="2400" dirty="0"/>
              <a:t> para la tienda T1.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804760-5E7A-85CC-4962-3CAAAC97D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2568" y="3324965"/>
            <a:ext cx="4432562" cy="297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15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33C3B-1078-82BA-CB7F-61AD6606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A6A1277-77D2-D4EF-F893-AF39FC44FD5E}"/>
              </a:ext>
            </a:extLst>
          </p:cNvPr>
          <p:cNvSpPr txBox="1"/>
          <p:nvPr/>
        </p:nvSpPr>
        <p:spPr>
          <a:xfrm>
            <a:off x="2285996" y="1177583"/>
            <a:ext cx="76200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PE" sz="5400" b="1" dirty="0">
                <a:solidFill>
                  <a:srgbClr val="002060"/>
                </a:solidFill>
              </a:rPr>
              <a:t>Conclusiones y recomendaciones</a:t>
            </a:r>
            <a:endParaRPr lang="es-MX" sz="5400" b="1" dirty="0">
              <a:solidFill>
                <a:srgbClr val="002060"/>
              </a:solidFill>
              <a:effectLst/>
            </a:endParaRPr>
          </a:p>
        </p:txBody>
      </p:sp>
      <p:pic>
        <p:nvPicPr>
          <p:cNvPr id="3" name="Gráfico 2" descr="Lista de comprobación con relleno sólido">
            <a:extLst>
              <a:ext uri="{FF2B5EF4-FFF2-40B4-BE49-F238E27FC236}">
                <a16:creationId xmlns:a16="http://schemas.microsoft.com/office/drawing/2014/main" id="{CF6334D4-7402-B7D0-2EE3-4F1B251FA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0257" y="3568940"/>
            <a:ext cx="2111477" cy="211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3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D68BE-4BF9-5F15-1A12-94108787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5A86BF2-1BBC-6C59-924F-63F05241A083}"/>
              </a:ext>
            </a:extLst>
          </p:cNvPr>
          <p:cNvSpPr txBox="1"/>
          <p:nvPr/>
        </p:nvSpPr>
        <p:spPr>
          <a:xfrm>
            <a:off x="1204452" y="1993264"/>
            <a:ext cx="97830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Recomendación Principal</a:t>
            </a:r>
          </a:p>
          <a:p>
            <a:endParaRPr lang="es-MX" sz="2400" dirty="0"/>
          </a:p>
          <a:p>
            <a:r>
              <a:rPr lang="es-MX" sz="2400" dirty="0"/>
              <a:t>Se recomienda que el </a:t>
            </a:r>
            <a:r>
              <a:rPr lang="es-MX" sz="2400" b="1" dirty="0"/>
              <a:t>Sr. João venda la Tienda T1</a:t>
            </a:r>
            <a:r>
              <a:rPr lang="es-MX" sz="2400" dirty="0"/>
              <a:t>, ya que esta unidad </a:t>
            </a:r>
            <a:r>
              <a:rPr lang="es-MX" sz="2400" b="1" dirty="0"/>
              <a:t>erosiona el margen de rentabilidad </a:t>
            </a:r>
            <a:r>
              <a:rPr lang="es-MX" sz="2400" dirty="0"/>
              <a:t>y concentra el mayor riesgo operativo de toda la cadena.</a:t>
            </a:r>
          </a:p>
        </p:txBody>
      </p:sp>
    </p:spTree>
    <p:extLst>
      <p:ext uri="{BB962C8B-B14F-4D97-AF65-F5344CB8AC3E}">
        <p14:creationId xmlns:p14="http://schemas.microsoft.com/office/powerpoint/2010/main" val="336117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40B70-0732-1655-4B66-785C63F4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8ECF9BD-40B5-C41C-D8D8-AD77730C4BF1}"/>
              </a:ext>
            </a:extLst>
          </p:cNvPr>
          <p:cNvSpPr txBox="1"/>
          <p:nvPr/>
        </p:nvSpPr>
        <p:spPr>
          <a:xfrm>
            <a:off x="1204452" y="370941"/>
            <a:ext cx="978309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💰 Justificación Financiera — Alto Riesgo y Sobrecosto</a:t>
            </a:r>
          </a:p>
          <a:p>
            <a:r>
              <a:rPr lang="es-MX" sz="3200" dirty="0"/>
              <a:t>Aunque la </a:t>
            </a:r>
            <a:r>
              <a:rPr lang="es-MX" sz="3200" b="1" dirty="0"/>
              <a:t>Tienda T1</a:t>
            </a:r>
            <a:r>
              <a:rPr lang="es-MX" sz="3200" dirty="0"/>
              <a:t> registra los mayores ingresos, su rentabilidad se ve afectada por una </a:t>
            </a:r>
            <a:r>
              <a:rPr lang="es-MX" sz="3200" b="1" dirty="0"/>
              <a:t>estructura logística ineficiente</a:t>
            </a:r>
            <a:r>
              <a:rPr lang="es-MX" sz="3200" dirty="0"/>
              <a:t>.</a:t>
            </a:r>
            <a:br>
              <a:rPr lang="es-MX" sz="3200" dirty="0"/>
            </a:br>
            <a:r>
              <a:rPr lang="es-MX" sz="3200" dirty="0"/>
              <a:t>En la zona crítica </a:t>
            </a:r>
            <a:r>
              <a:rPr lang="es-MX" sz="3200" i="1" dirty="0"/>
              <a:t>“Fuera de Clúster”</a:t>
            </a:r>
            <a:r>
              <a:rPr lang="es-MX" sz="3200" dirty="0"/>
              <a:t>, el </a:t>
            </a:r>
            <a:r>
              <a:rPr lang="es-MX" sz="3200" b="1" dirty="0"/>
              <a:t>costo promedio de envío alcanza los 30 mil</a:t>
            </a:r>
            <a:r>
              <a:rPr lang="es-MX" sz="3200" dirty="0"/>
              <a:t>, un </a:t>
            </a:r>
            <a:r>
              <a:rPr lang="es-MX" sz="3200" b="1" dirty="0"/>
              <a:t>+25.3 % más</a:t>
            </a:r>
            <a:r>
              <a:rPr lang="es-MX" sz="3200" dirty="0"/>
              <a:t> que el </a:t>
            </a:r>
            <a:r>
              <a:rPr lang="es-MX" sz="3200" i="1" dirty="0" err="1"/>
              <a:t>benchmark</a:t>
            </a:r>
            <a:r>
              <a:rPr lang="es-MX" sz="3200" dirty="0"/>
              <a:t> </a:t>
            </a:r>
            <a:r>
              <a:rPr lang="es-MX" sz="3200" b="1" dirty="0"/>
              <a:t>T3 (24.09 mil)</a:t>
            </a:r>
            <a:r>
              <a:rPr lang="es-MX" sz="3200" dirty="0"/>
              <a:t>.</a:t>
            </a:r>
            <a:br>
              <a:rPr lang="es-MX" sz="3200" dirty="0"/>
            </a:br>
            <a:r>
              <a:rPr lang="es-MX" sz="3200" dirty="0"/>
              <a:t>Con </a:t>
            </a:r>
            <a:r>
              <a:rPr lang="es-MX" sz="3200" b="1" dirty="0"/>
              <a:t>408 transacciones dispersas</a:t>
            </a:r>
            <a:r>
              <a:rPr lang="es-MX" sz="3200" dirty="0"/>
              <a:t>, T1 incurre en un </a:t>
            </a:r>
            <a:r>
              <a:rPr lang="es-MX" sz="3200" b="1" dirty="0"/>
              <a:t>sobrecosto anual estimado de 2.47 millones</a:t>
            </a:r>
            <a:r>
              <a:rPr lang="es-MX" sz="3200" dirty="0"/>
              <a:t>, reflejando una </a:t>
            </a:r>
            <a:r>
              <a:rPr lang="es-MX" sz="3200" b="1" dirty="0"/>
              <a:t>fuga directa de margen operativo</a:t>
            </a:r>
            <a:r>
              <a:rPr lang="es-MX" sz="3200" dirty="0"/>
              <a:t>.</a:t>
            </a:r>
          </a:p>
          <a:p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1670093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DD635-6A4C-C029-BD91-B39E273B1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648118D-6519-5422-FFE9-684FF248844F}"/>
              </a:ext>
            </a:extLst>
          </p:cNvPr>
          <p:cNvSpPr txBox="1"/>
          <p:nvPr/>
        </p:nvSpPr>
        <p:spPr>
          <a:xfrm>
            <a:off x="1125794" y="674400"/>
            <a:ext cx="978309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3200" dirty="0"/>
              <a:t>⚙️ </a:t>
            </a:r>
            <a:r>
              <a:rPr lang="es-PE" sz="3200" b="1" dirty="0"/>
              <a:t>Justificación Operativa — Ineficiencia Estructural</a:t>
            </a:r>
          </a:p>
          <a:p>
            <a:r>
              <a:rPr lang="es-MX" sz="3200" dirty="0"/>
              <a:t>El problema de T1 es </a:t>
            </a:r>
            <a:r>
              <a:rPr lang="es-MX" sz="3200" b="1" dirty="0"/>
              <a:t>estructural y geográfico</a:t>
            </a:r>
            <a:r>
              <a:rPr lang="es-MX" sz="3200" dirty="0"/>
              <a:t>, no transitorio.</a:t>
            </a:r>
          </a:p>
          <a:p>
            <a:r>
              <a:rPr lang="es-MX" sz="3200" dirty="0"/>
              <a:t>Su </a:t>
            </a:r>
            <a:r>
              <a:rPr lang="es-MX" sz="3200" b="1" dirty="0"/>
              <a:t>exposición al riesgo logístico</a:t>
            </a:r>
            <a:r>
              <a:rPr lang="es-MX" sz="3200" dirty="0"/>
              <a:t> es la más alta de la cadena: </a:t>
            </a:r>
            <a:r>
              <a:rPr lang="es-MX" sz="3200" b="1" dirty="0"/>
              <a:t>20.2 % de sus ingresos provienen de zonas fuera de clúster</a:t>
            </a:r>
            <a:r>
              <a:rPr lang="es-MX" sz="3200" dirty="0"/>
              <a:t>, muy por encima de las demás tiendas.</a:t>
            </a:r>
          </a:p>
          <a:p>
            <a:r>
              <a:rPr lang="es-MX" sz="3200" dirty="0"/>
              <a:t>El análisis confirma que </a:t>
            </a:r>
            <a:r>
              <a:rPr lang="es-MX" sz="3200" b="1" dirty="0"/>
              <a:t>la mezcla de productos no explica la ineficiencia</a:t>
            </a:r>
            <a:r>
              <a:rPr lang="es-MX" sz="3200" dirty="0"/>
              <a:t>, ya que la distribución por categoría es similar entre T1 y T3.</a:t>
            </a:r>
          </a:p>
        </p:txBody>
      </p:sp>
    </p:spTree>
    <p:extLst>
      <p:ext uri="{BB962C8B-B14F-4D97-AF65-F5344CB8AC3E}">
        <p14:creationId xmlns:p14="http://schemas.microsoft.com/office/powerpoint/2010/main" val="2602982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1675-8B62-7B78-B072-141A90B9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794D0F4-3B45-0070-B5ED-EC5B731BC439}"/>
              </a:ext>
            </a:extLst>
          </p:cNvPr>
          <p:cNvSpPr txBox="1"/>
          <p:nvPr/>
        </p:nvSpPr>
        <p:spPr>
          <a:xfrm>
            <a:off x="1096297" y="1274168"/>
            <a:ext cx="978309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⭐ Justificación de Servicio al Cliente — Impacto en la Experiencia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/>
              <a:t>Calificación promedio más baja:</a:t>
            </a:r>
            <a:r>
              <a:rPr lang="es-MX" sz="3200" dirty="0"/>
              <a:t> T1 registra una puntuación de </a:t>
            </a:r>
            <a:r>
              <a:rPr lang="es-MX" sz="3200" b="1" dirty="0"/>
              <a:t>3.98</a:t>
            </a:r>
            <a:r>
              <a:rPr lang="es-MX" sz="3200" dirty="0"/>
              <a:t>, la menor de todas las tiendas.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/>
              <a:t>Esta baja satisfacción probablemente se deriva de </a:t>
            </a:r>
            <a:r>
              <a:rPr lang="es-MX" sz="3200" b="1" dirty="0"/>
              <a:t>retrasos, costos altos y dispersión operativa</a:t>
            </a:r>
            <a:r>
              <a:rPr lang="es-MX" sz="3200" dirty="0"/>
              <a:t>, afectando la </a:t>
            </a:r>
            <a:r>
              <a:rPr lang="es-MX" sz="3200" b="1" dirty="0"/>
              <a:t>percepción del cliente y la reputación de la marca</a:t>
            </a:r>
            <a:r>
              <a:rPr lang="es-MX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88731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991</Words>
  <Application>Microsoft Office PowerPoint</Application>
  <PresentationFormat>Panorámica</PresentationFormat>
  <Paragraphs>44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YAFdJjbTu24_1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Vasquez Rodriguez</dc:creator>
  <cp:lastModifiedBy>Jose Vasquez Rodriguez</cp:lastModifiedBy>
  <cp:revision>8</cp:revision>
  <dcterms:created xsi:type="dcterms:W3CDTF">2025-11-09T04:48:06Z</dcterms:created>
  <dcterms:modified xsi:type="dcterms:W3CDTF">2025-11-09T06:37:21Z</dcterms:modified>
</cp:coreProperties>
</file>